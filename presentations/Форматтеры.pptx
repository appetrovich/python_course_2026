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3" r:id="rId1"/>
  </p:sldMasterIdLst>
  <p:sldIdLst>
    <p:sldId id="256" r:id="rId2"/>
    <p:sldId id="266" r:id="rId3"/>
    <p:sldId id="257" r:id="rId4"/>
    <p:sldId id="258" r:id="rId5"/>
    <p:sldId id="259" r:id="rId6"/>
    <p:sldId id="260" r:id="rId7"/>
    <p:sldId id="261" r:id="rId8"/>
    <p:sldId id="264" r:id="rId9"/>
    <p:sldId id="265" r:id="rId10"/>
    <p:sldId id="267" r:id="rId11"/>
    <p:sldId id="268" r:id="rId12"/>
    <p:sldId id="269" r:id="rId13"/>
    <p:sldId id="270" r:id="rId14"/>
    <p:sldId id="271" r:id="rId15"/>
    <p:sldId id="272" r:id="rId16"/>
    <p:sldId id="273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C8E832A1-AE20-595C-6C6A-C6CAD6D722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59" t="1529" r="16895" b="27442"/>
          <a:stretch>
            <a:fillRect/>
          </a:stretch>
        </p:blipFill>
        <p:spPr>
          <a:xfrm flipH="1">
            <a:off x="-27432" y="0"/>
            <a:ext cx="12219432" cy="6865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5259" y="1820486"/>
            <a:ext cx="4800600" cy="276218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8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5260" y="4714821"/>
            <a:ext cx="3830874" cy="149661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5259" y="219456"/>
            <a:ext cx="270377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5440" y="219456"/>
            <a:ext cx="149536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498DF51-4AB6-4046-AFE2-13885428565C}" type="datetimeFigureOut">
              <a:rPr lang="ru-RU" smtClean="0"/>
              <a:t>25.09.2026</a:t>
            </a:fld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D5A50BF-CBA2-4CB2-A8D1-F1DDDE57DC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992980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17452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498DF51-4AB6-4046-AFE2-13885428565C}" type="datetimeFigureOut">
              <a:rPr lang="ru-RU" smtClean="0"/>
              <a:t>25.09.2026</a:t>
            </a:fld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D5A50BF-CBA2-4CB2-A8D1-F1DDDE57DC9D}" type="slidenum">
              <a:rPr lang="ru-RU" smtClean="0"/>
              <a:t>‹#›</a:t>
            </a:fld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209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6AC85073-6D22-76C5-C752-C565E9FBCC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6" t="10520" r="14652" b="11508"/>
          <a:stretch>
            <a:fillRect/>
          </a:stretch>
        </p:blipFill>
        <p:spPr>
          <a:xfrm flipH="1">
            <a:off x="-2" y="11899"/>
            <a:ext cx="12192001" cy="686571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BF6CFC71-0CC0-F6AB-06FD-5F2DE2587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459253"/>
            <a:ext cx="5658468" cy="2691359"/>
          </a:xfrm>
        </p:spPr>
        <p:txBody>
          <a:bodyPr/>
          <a:lstStyle>
            <a:lvl1pPr>
              <a:defRPr sz="4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41932924-E87B-08A2-5EE3-BBA69699E2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62264" y="516600"/>
            <a:ext cx="2593814" cy="162788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2265" y="219456"/>
            <a:ext cx="250404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63200" y="219456"/>
            <a:ext cx="114638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498DF51-4AB6-4046-AFE2-13885428565C}" type="datetimeFigureOut">
              <a:rPr lang="ru-RU" smtClean="0"/>
              <a:t>25.09.2026</a:t>
            </a:fld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D5A50BF-CBA2-4CB2-A8D1-F1DDDE57DC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5553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tIns="36576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7EB34FF5-770C-AA64-B806-5D6DED71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463843"/>
            <a:ext cx="12188952" cy="2394157"/>
          </a:xfrm>
          <a:gradFill>
            <a:gsLst>
              <a:gs pos="31000">
                <a:srgbClr val="000000">
                  <a:alpha val="30000"/>
                </a:srgbClr>
              </a:gs>
              <a:gs pos="87000">
                <a:srgbClr val="000000">
                  <a:alpha val="60000"/>
                </a:srgbClr>
              </a:gs>
              <a:gs pos="0">
                <a:srgbClr val="000000">
                  <a:alpha val="0"/>
                </a:srgbClr>
              </a:gs>
            </a:gsLst>
            <a:lin ang="5400000" scaled="0"/>
          </a:gradFill>
        </p:spPr>
        <p:txBody>
          <a:bodyPr lIns="502920" tIns="0" rIns="5029200" bIns="365760" anchor="b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9132BB0-A42B-7355-8046-F22B2344C6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01099" y="4463843"/>
            <a:ext cx="3387853" cy="2394157"/>
          </a:xfrm>
        </p:spPr>
        <p:txBody>
          <a:bodyPr vert="horz" lIns="137160" tIns="365760" rIns="0" bIns="457200" rtlCol="0" anchor="b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37656" y="219456"/>
            <a:ext cx="274061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866095" y="219456"/>
            <a:ext cx="195799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498DF51-4AB6-4046-AFE2-13885428565C}" type="datetimeFigureOut">
              <a:rPr lang="ru-RU" smtClean="0"/>
              <a:t>25.09.2026</a:t>
            </a:fld>
            <a:endParaRPr lang="ru-RU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62195" y="219456"/>
            <a:ext cx="448805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D5A50BF-CBA2-4CB2-A8D1-F1DDDE57DC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07086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6F838A51-B977-1664-089F-3B2250DFEF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8117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980" y="4311805"/>
            <a:ext cx="8585337" cy="2368300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65617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9456"/>
            <a:ext cx="19132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498DF51-4AB6-4046-AFE2-13885428565C}" type="datetimeFigureOut">
              <a:rPr lang="ru-RU" smtClean="0"/>
              <a:t>25.09.2026</a:t>
            </a:fld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8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D5A50BF-CBA2-4CB2-A8D1-F1DDDE57DC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92390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D09BF41B-6D10-9A6E-03E4-5E7320A61D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2"/>
            <a:ext cx="12192000" cy="28690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68" y="2138776"/>
            <a:ext cx="6433266" cy="1962149"/>
          </a:xfrm>
        </p:spPr>
        <p:txBody>
          <a:bodyPr anchor="t">
            <a:normAutofit/>
          </a:bodyPr>
          <a:lstStyle>
            <a:lvl1pPr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3300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498DF51-4AB6-4046-AFE2-13885428565C}" type="datetimeFigureOut">
              <a:rPr lang="ru-RU" smtClean="0"/>
              <a:t>25.09.2026</a:t>
            </a:fld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D5A50BF-CBA2-4CB2-A8D1-F1DDDE57DC9D}" type="slidenum">
              <a:rPr lang="ru-RU" smtClean="0"/>
              <a:t>‹#›</a:t>
            </a:fld>
            <a:endParaRPr lang="ru-RU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53301" y="2138776"/>
            <a:ext cx="3718420" cy="4109624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50130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red and yellow light&#10;&#10;AI-generated content may be incorrect.">
            <a:extLst>
              <a:ext uri="{FF2B5EF4-FFF2-40B4-BE49-F238E27FC236}">
                <a16:creationId xmlns:a16="http://schemas.microsoft.com/office/drawing/2014/main" id="{BD349A90-08FB-AFC0-8649-56404DF7B8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109"/>
          <a:stretch>
            <a:fillRect/>
          </a:stretch>
        </p:blipFill>
        <p:spPr>
          <a:xfrm rot="10800000" flipH="1">
            <a:off x="-9982" y="2555751"/>
            <a:ext cx="12192000" cy="43439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852" y="3481713"/>
            <a:ext cx="5496426" cy="2092272"/>
          </a:xfrm>
        </p:spPr>
        <p:txBody>
          <a:bodyPr anchor="t">
            <a:normAutofit/>
          </a:bodyPr>
          <a:lstStyle>
            <a:lvl1pPr>
              <a:defRPr sz="760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43EA2DD-B019-E3AA-ACB7-13CC3353E8D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2555751"/>
          </a:xfrm>
          <a:blipFill>
            <a:blip r:embed="rId3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3660" y="2734068"/>
            <a:ext cx="272733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85567" y="2734068"/>
            <a:ext cx="158671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498DF51-4AB6-4046-AFE2-13885428565C}" type="datetimeFigureOut">
              <a:rPr lang="ru-RU" smtClean="0"/>
              <a:t>25.09.2026</a:t>
            </a:fld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6614" y="2734068"/>
            <a:ext cx="52669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D5A50BF-CBA2-4CB2-A8D1-F1DDDE57DC9D}" type="slidenum">
              <a:rPr lang="ru-RU" smtClean="0"/>
              <a:t>‹#›</a:t>
            </a:fld>
            <a:endParaRPr lang="ru-RU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85567" y="3481713"/>
            <a:ext cx="3916103" cy="2765887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marL="228600" lvl="0" indent="-228600"/>
            <a:r>
              <a:rPr lang="ru-RU"/>
              <a:t>Образец текста</a:t>
            </a:r>
          </a:p>
          <a:p>
            <a:pPr marL="228600" lvl="1" indent="-228600"/>
            <a:r>
              <a:rPr lang="ru-RU"/>
              <a:t>Второй уровень</a:t>
            </a:r>
          </a:p>
          <a:p>
            <a:pPr marL="228600" lvl="2" indent="-228600"/>
            <a:r>
              <a:rPr lang="ru-RU"/>
              <a:t>Третий уровень</a:t>
            </a:r>
          </a:p>
          <a:p>
            <a:pPr marL="228600" lvl="3" indent="-228600"/>
            <a:r>
              <a:rPr lang="ru-RU"/>
              <a:t>Четвертый уровень</a:t>
            </a:r>
          </a:p>
          <a:p>
            <a:pPr marL="228600" lvl="4" indent="-228600"/>
            <a:r>
              <a:rPr lang="ru-RU"/>
              <a:t>Пятый уровень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63042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518E8C82-2B1B-76C7-A67D-099AEEEAD0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09"/>
          <a:stretch>
            <a:fillRect/>
          </a:stretch>
        </p:blipFill>
        <p:spPr>
          <a:xfrm>
            <a:off x="6324601" y="1"/>
            <a:ext cx="588125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51" y="1276990"/>
            <a:ext cx="5378267" cy="985658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418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498DF51-4AB6-4046-AFE2-13885428565C}" type="datetimeFigureOut">
              <a:rPr lang="ru-RU" smtClean="0"/>
              <a:t>25.09.2026</a:t>
            </a:fld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295" y="21485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D5A50BF-CBA2-4CB2-A8D1-F1DDDE57DC9D}" type="slidenum">
              <a:rPr lang="ru-RU" smtClean="0"/>
              <a:t>‹#›</a:t>
            </a:fld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477" y="2471736"/>
            <a:ext cx="5378268" cy="366273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81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E41EB56E-DF88-E5AB-35AF-891395DCDB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4406900"/>
            <a:ext cx="9144000" cy="2451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899" y="1886712"/>
            <a:ext cx="3507989" cy="3233928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08394"/>
            <a:ext cx="253211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67400" y="208394"/>
            <a:ext cx="20175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498DF51-4AB6-4046-AFE2-13885428565C}" type="datetimeFigureOut">
              <a:rPr lang="ru-RU" smtClean="0"/>
              <a:t>25.09.2026</a:t>
            </a:fld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588" y="208394"/>
            <a:ext cx="5531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D5A50BF-CBA2-4CB2-A8D1-F1DDDE57DC9D}" type="slidenum">
              <a:rPr lang="ru-RU" smtClean="0"/>
              <a:t>‹#›</a:t>
            </a:fld>
            <a:endParaRPr lang="ru-RU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67401" y="1886712"/>
            <a:ext cx="4495800" cy="32339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  <a:lvl2pPr>
              <a:defRPr lang="en-US">
                <a:solidFill>
                  <a:schemeClr val="tx1"/>
                </a:solidFill>
              </a:defRPr>
            </a:lvl2pPr>
            <a:lvl3pPr>
              <a:defRPr lang="en-US">
                <a:solidFill>
                  <a:schemeClr val="tx1"/>
                </a:solidFill>
              </a:defRPr>
            </a:lvl3pPr>
            <a:lvl4pPr>
              <a:defRPr lang="en-US">
                <a:solidFill>
                  <a:schemeClr val="tx1"/>
                </a:solidFill>
              </a:defRPr>
            </a:lvl4pPr>
            <a:lvl5pPr>
              <a:defRPr lang="en-US">
                <a:solidFill>
                  <a:schemeClr val="tx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7675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436" y="1115568"/>
            <a:ext cx="2505264" cy="1624122"/>
          </a:xfrm>
        </p:spPr>
        <p:txBody>
          <a:bodyPr anchor="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684048" cy="338328"/>
          </a:xfrm>
        </p:spPr>
        <p:txBody>
          <a:bodyPr/>
          <a:lstStyle/>
          <a:p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74064" y="215823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2498DF51-4AB6-4046-AFE2-13885428565C}" type="datetimeFigureOut">
              <a:rPr lang="ru-RU" smtClean="0"/>
              <a:t>25.09.2026</a:t>
            </a:fld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242" y="215823"/>
            <a:ext cx="549272" cy="338328"/>
          </a:xfrm>
        </p:spPr>
        <p:txBody>
          <a:bodyPr/>
          <a:lstStyle/>
          <a:p>
            <a:fld id="{FD5A50BF-CBA2-4CB2-A8D1-F1DDDE57DC9D}" type="slidenum">
              <a:rPr lang="ru-RU" smtClean="0"/>
              <a:t>‹#›</a:t>
            </a:fld>
            <a:endParaRPr lang="ru-RU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8436" y="3028523"/>
            <a:ext cx="2505264" cy="341037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B2531DA-E07E-34C2-010B-27DB8B00492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74064" y="1181100"/>
            <a:ext cx="8817936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678481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4000500" cy="1352516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727930" cy="338328"/>
          </a:xfrm>
        </p:spPr>
        <p:txBody>
          <a:bodyPr/>
          <a:lstStyle/>
          <a:p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7899" y="219456"/>
            <a:ext cx="1747774" cy="338328"/>
          </a:xfrm>
        </p:spPr>
        <p:txBody>
          <a:bodyPr/>
          <a:lstStyle/>
          <a:p>
            <a:fld id="{2498DF51-4AB6-4046-AFE2-13885428565C}" type="datetimeFigureOut">
              <a:rPr lang="ru-RU" smtClean="0"/>
              <a:t>25.09.2026</a:t>
            </a:fld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3948" y="216280"/>
            <a:ext cx="551113" cy="338328"/>
          </a:xfrm>
        </p:spPr>
        <p:txBody>
          <a:bodyPr/>
          <a:lstStyle/>
          <a:p>
            <a:fld id="{FD5A50BF-CBA2-4CB2-A8D1-F1DDDE57DC9D}" type="slidenum">
              <a:rPr lang="ru-RU" smtClean="0"/>
              <a:t>‹#›</a:t>
            </a:fld>
            <a:endParaRPr lang="ru-RU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7899" y="1104900"/>
            <a:ext cx="6925002" cy="1352516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None/>
              <a:defRPr sz="1400"/>
            </a:lvl1pPr>
            <a:lvl2pPr marL="514350" indent="-285750">
              <a:buFont typeface="Arial" panose="020B0604020202020204" pitchFamily="34" charset="0"/>
              <a:buNone/>
              <a:defRPr sz="14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400"/>
            </a:lvl4pPr>
            <a:lvl5pPr marL="1085850" indent="-17145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46877B-7C99-D26C-DFEC-72A4289A8FA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938509"/>
            <a:ext cx="12192000" cy="3919491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2857185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2514600" cy="2918919"/>
          </a:xfrm>
        </p:spPr>
        <p:txBody>
          <a:bodyPr anchor="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5146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ru-RU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EB6A322-B3CC-9AE7-DB63-8B433811BD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423747" y="0"/>
            <a:ext cx="8768253" cy="3985719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800" y="4077628"/>
            <a:ext cx="1920240" cy="338328"/>
          </a:xfrm>
        </p:spPr>
        <p:txBody>
          <a:bodyPr/>
          <a:lstStyle/>
          <a:p>
            <a:fld id="{2498DF51-4AB6-4046-AFE2-13885428565C}" type="datetimeFigureOut">
              <a:rPr lang="ru-RU" smtClean="0"/>
              <a:t>25.09.2026</a:t>
            </a:fld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407762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D5A50BF-CBA2-4CB2-A8D1-F1DDDE57DC9D}" type="slidenum">
              <a:rPr lang="ru-RU" smtClean="0"/>
              <a:t>‹#›</a:t>
            </a:fld>
            <a:endParaRPr lang="ru-RU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4423576"/>
            <a:ext cx="8420100" cy="1824824"/>
          </a:xfrm>
        </p:spPr>
        <p:txBody>
          <a:bodyPr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65094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1339" y="1115568"/>
            <a:ext cx="5247577" cy="994131"/>
          </a:xfrm>
        </p:spPr>
        <p:txBody>
          <a:bodyPr anchor="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933700" cy="338328"/>
          </a:xfrm>
        </p:spPr>
        <p:txBody>
          <a:bodyPr/>
          <a:lstStyle/>
          <a:p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96579" y="209088"/>
            <a:ext cx="184404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2498DF51-4AB6-4046-AFE2-13885428565C}" type="datetimeFigureOut">
              <a:rPr lang="ru-RU" smtClean="0"/>
              <a:t>25.09.2026</a:t>
            </a:fld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4185" y="209088"/>
            <a:ext cx="555948" cy="338328"/>
          </a:xfrm>
        </p:spPr>
        <p:txBody>
          <a:bodyPr/>
          <a:lstStyle/>
          <a:p>
            <a:fld id="{FD5A50BF-CBA2-4CB2-A8D1-F1DDDE57DC9D}" type="slidenum">
              <a:rPr lang="ru-RU" smtClean="0"/>
              <a:t>‹#›</a:t>
            </a:fld>
            <a:endParaRPr lang="ru-RU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3BFBE8F-8803-50FD-04BC-3A247F9767C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181100"/>
            <a:ext cx="5247577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81339" y="2133600"/>
            <a:ext cx="5247577" cy="4114800"/>
          </a:xfrm>
        </p:spPr>
        <p:txBody>
          <a:bodyPr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44068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57" y="1115568"/>
            <a:ext cx="3607670" cy="3170545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4858"/>
            <a:ext cx="2597106" cy="338328"/>
          </a:xfrm>
        </p:spPr>
        <p:txBody>
          <a:bodyPr/>
          <a:lstStyle/>
          <a:p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5909" y="214858"/>
            <a:ext cx="1586711" cy="338328"/>
          </a:xfrm>
        </p:spPr>
        <p:txBody>
          <a:bodyPr/>
          <a:lstStyle/>
          <a:p>
            <a:fld id="{2498DF51-4AB6-4046-AFE2-13885428565C}" type="datetimeFigureOut">
              <a:rPr lang="ru-RU" smtClean="0"/>
              <a:t>25.09.2026</a:t>
            </a:fld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7610" y="214858"/>
            <a:ext cx="555948" cy="338328"/>
          </a:xfrm>
        </p:spPr>
        <p:txBody>
          <a:bodyPr/>
          <a:lstStyle/>
          <a:p>
            <a:fld id="{FD5A50BF-CBA2-4CB2-A8D1-F1DDDE57DC9D}" type="slidenum">
              <a:rPr lang="ru-RU" smtClean="0"/>
              <a:t>‹#›</a:t>
            </a:fld>
            <a:endParaRPr lang="ru-RU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5909" y="1112672"/>
            <a:ext cx="6926991" cy="196780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21707E4-5122-AA3B-7CFC-6AF9C0BAC4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03079" y="3500203"/>
            <a:ext cx="7288921" cy="3357797"/>
          </a:xfrm>
          <a:custGeom>
            <a:avLst/>
            <a:gdLst>
              <a:gd name="connsiteX0" fmla="*/ 0 w 7391400"/>
              <a:gd name="connsiteY0" fmla="*/ 0 h 3018269"/>
              <a:gd name="connsiteX1" fmla="*/ 7391400 w 7391400"/>
              <a:gd name="connsiteY1" fmla="*/ 0 h 3018269"/>
              <a:gd name="connsiteX2" fmla="*/ 7391400 w 7391400"/>
              <a:gd name="connsiteY2" fmla="*/ 3018269 h 3018269"/>
              <a:gd name="connsiteX3" fmla="*/ 0 w 7391400"/>
              <a:gd name="connsiteY3" fmla="*/ 3018269 h 3018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91400" h="3018269">
                <a:moveTo>
                  <a:pt x="0" y="0"/>
                </a:moveTo>
                <a:lnTo>
                  <a:pt x="7391400" y="0"/>
                </a:lnTo>
                <a:lnTo>
                  <a:pt x="7391400" y="3018269"/>
                </a:lnTo>
                <a:lnTo>
                  <a:pt x="0" y="3018269"/>
                </a:lnTo>
                <a:close/>
              </a:path>
            </a:pathLst>
          </a:cu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6471649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3429001"/>
            <a:ext cx="2501307" cy="2551982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02C8AD-A927-B946-5850-6500487D68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12192000" cy="270509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865290"/>
            <a:ext cx="2726376" cy="338328"/>
          </a:xfrm>
        </p:spPr>
        <p:txBody>
          <a:bodyPr/>
          <a:lstStyle/>
          <a:p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799" y="2865290"/>
            <a:ext cx="1967345" cy="338328"/>
          </a:xfrm>
        </p:spPr>
        <p:txBody>
          <a:bodyPr/>
          <a:lstStyle/>
          <a:p>
            <a:fld id="{2498DF51-4AB6-4046-AFE2-13885428565C}" type="datetimeFigureOut">
              <a:rPr lang="ru-RU" smtClean="0"/>
              <a:t>25.09.2026</a:t>
            </a:fld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865290"/>
            <a:ext cx="555948" cy="338328"/>
          </a:xfrm>
        </p:spPr>
        <p:txBody>
          <a:bodyPr/>
          <a:lstStyle/>
          <a:p>
            <a:fld id="{FD5A50BF-CBA2-4CB2-A8D1-F1DDDE57DC9D}" type="slidenum">
              <a:rPr lang="ru-RU" smtClean="0"/>
              <a:t>‹#›</a:t>
            </a:fld>
            <a:endParaRPr lang="ru-RU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3429000"/>
            <a:ext cx="8210204" cy="300990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05099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230" y="1115568"/>
            <a:ext cx="3603256" cy="1409878"/>
          </a:xfrm>
        </p:spPr>
        <p:txBody>
          <a:bodyPr anchor="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8700" y="209088"/>
            <a:ext cx="2514600" cy="338328"/>
          </a:xfrm>
        </p:spPr>
        <p:txBody>
          <a:bodyPr/>
          <a:lstStyle/>
          <a:p>
            <a:fld id="{2498DF51-4AB6-4046-AFE2-13885428565C}" type="datetimeFigureOut">
              <a:rPr lang="ru-RU" smtClean="0"/>
              <a:t>25.09.2026</a:t>
            </a:fld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019" y="219456"/>
            <a:ext cx="56434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D5A50BF-CBA2-4CB2-A8D1-F1DDDE57DC9D}" type="slidenum">
              <a:rPr lang="ru-RU" smtClean="0"/>
              <a:t>‹#›</a:t>
            </a:fld>
            <a:endParaRPr lang="ru-RU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6230" y="2705100"/>
            <a:ext cx="3603256" cy="3695700"/>
          </a:xfrm>
        </p:spPr>
        <p:txBody>
          <a:bodyPr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83D1CED-EDC4-B2B7-E11C-EF0ED41A913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35269" y="1175658"/>
            <a:ext cx="7256731" cy="5682342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4135082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607626"/>
            <a:ext cx="4419600" cy="1640774"/>
          </a:xfrm>
        </p:spPr>
        <p:txBody>
          <a:bodyPr anchor="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4508209-B462-E74A-288F-8910B06DE3A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914" y="0"/>
            <a:ext cx="4836786" cy="421419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41275" y="209088"/>
            <a:ext cx="2726376" cy="338328"/>
          </a:xfrm>
        </p:spPr>
        <p:txBody>
          <a:bodyPr/>
          <a:lstStyle/>
          <a:p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0525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2498DF51-4AB6-4046-AFE2-13885428565C}" type="datetimeFigureOut">
              <a:rPr lang="ru-RU" smtClean="0"/>
              <a:t>25.09.2026</a:t>
            </a:fld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A50BF-CBA2-4CB2-A8D1-F1DDDE57DC9D}" type="slidenum">
              <a:rPr lang="ru-RU" smtClean="0"/>
              <a:t>‹#›</a:t>
            </a:fld>
            <a:endParaRPr lang="ru-RU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41276" y="1104900"/>
            <a:ext cx="5750381" cy="51435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173060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3105335" cy="1636510"/>
          </a:xfrm>
        </p:spPr>
        <p:txBody>
          <a:bodyPr anchor="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/>
          <a:p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55522" y="214858"/>
            <a:ext cx="2536988" cy="338328"/>
          </a:xfrm>
        </p:spPr>
        <p:txBody>
          <a:bodyPr/>
          <a:lstStyle/>
          <a:p>
            <a:fld id="{2498DF51-4AB6-4046-AFE2-13885428565C}" type="datetimeFigureOut">
              <a:rPr lang="ru-RU" smtClean="0"/>
              <a:t>25.09.2026</a:t>
            </a:fld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214858"/>
            <a:ext cx="555948" cy="338328"/>
          </a:xfrm>
        </p:spPr>
        <p:txBody>
          <a:bodyPr/>
          <a:lstStyle/>
          <a:p>
            <a:fld id="{FD5A50BF-CBA2-4CB2-A8D1-F1DDDE57DC9D}" type="slidenum">
              <a:rPr lang="ru-RU" smtClean="0"/>
              <a:t>‹#›</a:t>
            </a:fld>
            <a:endParaRPr lang="ru-RU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A8D0EC2-AB64-20F7-00E1-73B35DEAA2D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3017520"/>
            <a:ext cx="3417902" cy="384048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55522" y="1104901"/>
            <a:ext cx="7476571" cy="533399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4488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C26FEAF5-B987-7B83-7D1F-A4C535E2B0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01" r="5781"/>
          <a:stretch>
            <a:fillRect/>
          </a:stretch>
        </p:blipFill>
        <p:spPr>
          <a:xfrm rot="10800000" flipH="1">
            <a:off x="0" y="-1"/>
            <a:ext cx="12192000" cy="686409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E9DD887D-B316-418B-8AF4-4F941223A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0" y="5082379"/>
            <a:ext cx="4000500" cy="1169230"/>
          </a:xfrm>
        </p:spPr>
        <p:txBody>
          <a:bodyPr anchor="b">
            <a:normAutofit/>
          </a:bodyPr>
          <a:lstStyle>
            <a:lvl1pPr>
              <a:defRPr sz="2000" spc="-5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400" y="209088"/>
            <a:ext cx="197069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498DF51-4AB6-4046-AFE2-13885428565C}" type="datetimeFigureOut">
              <a:rPr lang="ru-RU" smtClean="0"/>
              <a:t>25.09.2026</a:t>
            </a:fld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D5A50BF-CBA2-4CB2-A8D1-F1DDDE57DC9D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42D9118-C154-84FE-9D86-92525287F07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80988" y="1063625"/>
            <a:ext cx="10428287" cy="3508375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26000"/>
            </a:lvl1pPr>
          </a:lstStyle>
          <a:p>
            <a:pPr lvl="0"/>
            <a:r>
              <a:rPr lang="en-US" dirty="0"/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36232798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and purple light&#10;&#10;AI-generated content may be incorrect.">
            <a:extLst>
              <a:ext uri="{FF2B5EF4-FFF2-40B4-BE49-F238E27FC236}">
                <a16:creationId xmlns:a16="http://schemas.microsoft.com/office/drawing/2014/main" id="{27A6C04A-3EE2-7293-8111-E4CF6B18B2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4" t="57458" r="22221" b="1"/>
          <a:stretch>
            <a:fillRect/>
          </a:stretch>
        </p:blipFill>
        <p:spPr>
          <a:xfrm rot="10800000">
            <a:off x="0" y="0"/>
            <a:ext cx="12192000" cy="48028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498DF51-4AB6-4046-AFE2-13885428565C}" type="datetimeFigureOut">
              <a:rPr lang="ru-RU" smtClean="0"/>
              <a:t>25.09.2026</a:t>
            </a:fld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D5A50BF-CBA2-4CB2-A8D1-F1DDDE57DC9D}" type="slidenum">
              <a:rPr lang="ru-RU" smtClean="0"/>
              <a:t>‹#›</a:t>
            </a:fld>
            <a:endParaRPr lang="ru-RU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9099" y="2885606"/>
            <a:ext cx="8801101" cy="3553293"/>
          </a:xfrm>
        </p:spPr>
        <p:txBody>
          <a:bodyPr anchor="b">
            <a:normAutofit/>
          </a:bodyPr>
          <a:lstStyle>
            <a:lvl1pPr marL="0" indent="0">
              <a:lnSpc>
                <a:spcPct val="85000"/>
              </a:lnSpc>
              <a:buNone/>
              <a:defRPr sz="6000" b="0" spc="-50" baseline="0">
                <a:solidFill>
                  <a:schemeClr val="tx1"/>
                </a:solidFill>
              </a:defRPr>
            </a:lvl1pPr>
            <a:lvl2pPr marL="228600" indent="0">
              <a:lnSpc>
                <a:spcPct val="85000"/>
              </a:lnSpc>
              <a:buNone/>
              <a:defRPr sz="4400" b="0" spc="-50" baseline="0">
                <a:solidFill>
                  <a:schemeClr val="tx1"/>
                </a:solidFill>
              </a:defRPr>
            </a:lvl2pPr>
            <a:lvl3pPr marL="457200" indent="0">
              <a:lnSpc>
                <a:spcPct val="85000"/>
              </a:lnSpc>
              <a:buNone/>
              <a:defRPr sz="4000" b="0" spc="-50" baseline="0">
                <a:solidFill>
                  <a:schemeClr val="tx1"/>
                </a:solidFill>
              </a:defRPr>
            </a:lvl3pPr>
            <a:lvl4pPr marL="685800" indent="0">
              <a:lnSpc>
                <a:spcPct val="85000"/>
              </a:lnSpc>
              <a:buNone/>
              <a:defRPr sz="3600" b="0" spc="-50" baseline="0">
                <a:solidFill>
                  <a:schemeClr val="tx1"/>
                </a:solidFill>
              </a:defRPr>
            </a:lvl4pPr>
            <a:lvl5pPr marL="914400" indent="0">
              <a:lnSpc>
                <a:spcPct val="85000"/>
              </a:lnSpc>
              <a:buNone/>
              <a:defRPr sz="3200" b="0" spc="-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2107415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56ABB8EC-1098-DCAC-E2E3-BCA53EEC62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" t="22024" r="10011"/>
          <a:stretch>
            <a:fillRect/>
          </a:stretch>
        </p:blipFill>
        <p:spPr>
          <a:xfrm rot="10800000" flipH="1">
            <a:off x="0" y="0"/>
            <a:ext cx="12192000" cy="68640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899" y="4874218"/>
            <a:ext cx="8506567" cy="666427"/>
          </a:xfrm>
        </p:spPr>
        <p:txBody>
          <a:bodyPr anchor="ctr">
            <a:normAutofit/>
          </a:bodyPr>
          <a:lstStyle>
            <a:lvl1pPr algn="r">
              <a:lnSpc>
                <a:spcPct val="90000"/>
              </a:lnSpc>
              <a:defRPr sz="1400" b="0" cap="all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498DF51-4AB6-4046-AFE2-13885428565C}" type="datetimeFigureOut">
              <a:rPr lang="ru-RU" smtClean="0"/>
              <a:t>25.09.2026</a:t>
            </a:fld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D5A50BF-CBA2-4CB2-A8D1-F1DDDE57DC9D}" type="slidenum">
              <a:rPr lang="ru-RU" smtClean="0"/>
              <a:t>‹#›</a:t>
            </a:fld>
            <a:endParaRPr lang="ru-RU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899" y="1856096"/>
            <a:ext cx="8506567" cy="2855388"/>
          </a:xfrm>
        </p:spPr>
        <p:txBody>
          <a:bodyPr anchor="ctr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328767884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8382000" cy="70165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498DF51-4AB6-4046-AFE2-13885428565C}" type="datetimeFigureOut">
              <a:rPr lang="ru-RU" smtClean="0"/>
              <a:t>25.09.2026</a:t>
            </a:fld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D5A50BF-CBA2-4CB2-A8D1-F1DDDE57DC9D}" type="slidenum">
              <a:rPr lang="ru-RU" smtClean="0"/>
              <a:t>‹#›</a:t>
            </a:fld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4CA46A-141E-21AB-51BA-BA1F0F39570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8607D36-7013-02AC-69A9-8D38C5BBA7D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78824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93249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655" y="932098"/>
            <a:ext cx="10835539" cy="7040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202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498DF51-4AB6-4046-AFE2-13885428565C}" type="datetimeFigureOut">
              <a:rPr lang="ru-RU" smtClean="0"/>
              <a:t>25.09.2026</a:t>
            </a:fld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D5A50BF-CBA2-4CB2-A8D1-F1DDDE57DC9D}" type="slidenum">
              <a:rPr lang="ru-RU" smtClean="0"/>
              <a:t>‹#›</a:t>
            </a:fld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8654" y="1675614"/>
            <a:ext cx="4913919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854769-C5D8-1BF0-C3A2-77216D6255D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2285022"/>
            <a:ext cx="4900773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6500" y="1675614"/>
            <a:ext cx="4967694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3527224-4234-3620-766D-DCCA3AFDF89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401" y="2285022"/>
            <a:ext cx="4982762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526189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8380309" cy="87619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498DF51-4AB6-4046-AFE2-13885428565C}" type="datetimeFigureOut">
              <a:rPr lang="ru-RU" smtClean="0"/>
              <a:t>25.09.2026</a:t>
            </a:fld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D5A50BF-CBA2-4CB2-A8D1-F1DDDE57DC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518306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498DF51-4AB6-4046-AFE2-13885428565C}" type="datetimeFigureOut">
              <a:rPr lang="ru-RU" smtClean="0"/>
              <a:t>25.09.2026</a:t>
            </a:fld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D5A50BF-CBA2-4CB2-A8D1-F1DDDE57DC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932779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ed and purple light&#10;&#10;AI-generated content may be incorrect.">
            <a:extLst>
              <a:ext uri="{FF2B5EF4-FFF2-40B4-BE49-F238E27FC236}">
                <a16:creationId xmlns:a16="http://schemas.microsoft.com/office/drawing/2014/main" id="{CC69B319-31FA-514C-5A82-30B4D1B20A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758952"/>
            <a:ext cx="7609668" cy="1734866"/>
          </a:xfrm>
        </p:spPr>
        <p:txBody>
          <a:bodyPr anchor="t">
            <a:noAutofit/>
          </a:bodyPr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498DF51-4AB6-4046-AFE2-13885428565C}" type="datetimeFigureOut">
              <a:rPr lang="ru-RU" smtClean="0"/>
              <a:t>25.09.2026</a:t>
            </a:fld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D5A50BF-CBA2-4CB2-A8D1-F1DDDE57DC9D}" type="slidenum">
              <a:rPr lang="ru-RU" smtClean="0"/>
              <a:t>‹#›</a:t>
            </a:fld>
            <a:endParaRPr lang="ru-RU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100" y="2705101"/>
            <a:ext cx="8801100" cy="29475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12244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and purple light&#10;&#10;AI-generated content may be incorrect.">
            <a:extLst>
              <a:ext uri="{FF2B5EF4-FFF2-40B4-BE49-F238E27FC236}">
                <a16:creationId xmlns:a16="http://schemas.microsoft.com/office/drawing/2014/main" id="{86565871-9318-EC0D-5245-A159818CA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687F1B09-5020-D2DD-189E-7226AD232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2704772"/>
            <a:ext cx="5465660" cy="2733384"/>
          </a:xfrm>
        </p:spPr>
        <p:txBody>
          <a:bodyPr/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498DF51-4AB6-4046-AFE2-13885428565C}" type="datetimeFigureOut">
              <a:rPr lang="ru-RU" smtClean="0"/>
              <a:t>25.09.2026</a:t>
            </a:fld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D5A50BF-CBA2-4CB2-A8D1-F1DDDE57DC9D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492B719-9068-0A96-E408-4EB3E9F85BE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05550" y="2705100"/>
            <a:ext cx="4410075" cy="15621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4454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9942409" cy="8761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417" y="2133600"/>
            <a:ext cx="9942409" cy="4305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393" y="214858"/>
            <a:ext cx="272637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01100" y="214858"/>
            <a:ext cx="192024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2498DF51-4AB6-4046-AFE2-13885428565C}" type="datetimeFigureOut">
              <a:rPr lang="ru-RU" smtClean="0"/>
              <a:t>25.09.2026</a:t>
            </a:fld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1657" y="214858"/>
            <a:ext cx="555948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FD5A50BF-CBA2-4CB2-A8D1-F1DDDE57DC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41595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94" r:id="rId1"/>
    <p:sldLayoutId id="2147483795" r:id="rId2"/>
    <p:sldLayoutId id="2147483796" r:id="rId3"/>
    <p:sldLayoutId id="2147483797" r:id="rId4"/>
    <p:sldLayoutId id="2147483798" r:id="rId5"/>
    <p:sldLayoutId id="2147483799" r:id="rId6"/>
    <p:sldLayoutId id="2147483800" r:id="rId7"/>
    <p:sldLayoutId id="2147483801" r:id="rId8"/>
    <p:sldLayoutId id="2147483802" r:id="rId9"/>
    <p:sldLayoutId id="2147483803" r:id="rId10"/>
    <p:sldLayoutId id="2147483804" r:id="rId11"/>
    <p:sldLayoutId id="2147483805" r:id="rId12"/>
    <p:sldLayoutId id="2147483806" r:id="rId13"/>
    <p:sldLayoutId id="2147483807" r:id="rId14"/>
    <p:sldLayoutId id="2147483808" r:id="rId15"/>
    <p:sldLayoutId id="2147483809" r:id="rId16"/>
    <p:sldLayoutId id="2147483810" r:id="rId17"/>
    <p:sldLayoutId id="2147483811" r:id="rId18"/>
    <p:sldLayoutId id="2147483812" r:id="rId19"/>
    <p:sldLayoutId id="2147483813" r:id="rId20"/>
    <p:sldLayoutId id="2147483814" r:id="rId21"/>
    <p:sldLayoutId id="2147483815" r:id="rId22"/>
    <p:sldLayoutId id="2147483816" r:id="rId23"/>
    <p:sldLayoutId id="2147483817" r:id="rId24"/>
    <p:sldLayoutId id="2147483818" r:id="rId25"/>
    <p:sldLayoutId id="2147483819" r:id="rId26"/>
    <p:sldLayoutId id="2147483820" r:id="rId2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1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264">
          <p15:clr>
            <a:srgbClr val="F26B43"/>
          </p15:clr>
        </p15:guide>
        <p15:guide id="4" orient="horz" pos="264">
          <p15:clr>
            <a:srgbClr val="F26B43"/>
          </p15:clr>
        </p15:guide>
        <p15:guide id="5" pos="7416">
          <p15:clr>
            <a:srgbClr val="F26B43"/>
          </p15:clr>
        </p15:guide>
        <p15:guide id="12" pos="4632">
          <p15:clr>
            <a:srgbClr val="F26B43"/>
          </p15:clr>
        </p15:guide>
        <p15:guide id="13" pos="5544">
          <p15:clr>
            <a:srgbClr val="F26B43"/>
          </p15:clr>
        </p15:guide>
        <p15:guide id="26" pos="2784">
          <p15:clr>
            <a:srgbClr val="F26B43"/>
          </p15:clr>
        </p15:guide>
        <p15:guide id="27" pos="3048">
          <p15:clr>
            <a:srgbClr val="F26B43"/>
          </p15:clr>
        </p15:guide>
        <p15:guide id="29" pos="3960">
          <p15:clr>
            <a:srgbClr val="F26B43"/>
          </p15:clr>
        </p15:guide>
        <p15:guide id="30" pos="1176">
          <p15:clr>
            <a:srgbClr val="F26B43"/>
          </p15:clr>
        </p15:guide>
        <p15:guide id="31" pos="912">
          <p15:clr>
            <a:srgbClr val="F26B43"/>
          </p15:clr>
        </p15:guide>
        <p15:guide id="32" pos="3696">
          <p15:clr>
            <a:srgbClr val="F26B43"/>
          </p15:clr>
        </p15:guide>
        <p15:guide id="33" pos="1848">
          <p15:clr>
            <a:srgbClr val="F26B43"/>
          </p15:clr>
        </p15:guide>
        <p15:guide id="34" pos="2112">
          <p15:clr>
            <a:srgbClr val="F26B43"/>
          </p15:clr>
        </p15:guide>
        <p15:guide id="36" pos="6528">
          <p15:clr>
            <a:srgbClr val="F26B43"/>
          </p15:clr>
        </p15:guide>
        <p15:guide id="37" pos="6744">
          <p15:clr>
            <a:srgbClr val="F26B43"/>
          </p15:clr>
        </p15:guide>
        <p15:guide id="42" orient="horz" pos="393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016E55-CB4E-E62A-9DB7-B74369BFD4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65291" y="941438"/>
            <a:ext cx="7000568" cy="2487562"/>
          </a:xfrm>
        </p:spPr>
        <p:txBody>
          <a:bodyPr>
            <a:normAutofit/>
          </a:bodyPr>
          <a:lstStyle/>
          <a:p>
            <a:pPr algn="r"/>
            <a:r>
              <a:rPr lang="ru-RU" dirty="0"/>
              <a:t>Сравнение </a:t>
            </a:r>
            <a:r>
              <a:rPr lang="ru-RU" dirty="0" err="1"/>
              <a:t>форматтеров</a:t>
            </a:r>
            <a:r>
              <a:rPr lang="ru-RU" dirty="0"/>
              <a:t>. Black </a:t>
            </a:r>
            <a:r>
              <a:rPr lang="ru-RU" dirty="0" err="1"/>
              <a:t>vs</a:t>
            </a:r>
            <a:r>
              <a:rPr lang="ru-RU" dirty="0"/>
              <a:t> </a:t>
            </a:r>
            <a:r>
              <a:rPr lang="ru-RU" sz="6000" dirty="0" err="1"/>
              <a:t>Ruff</a:t>
            </a:r>
            <a:r>
              <a:rPr lang="ru-RU" dirty="0"/>
              <a:t> </a:t>
            </a:r>
            <a:r>
              <a:rPr lang="ru-RU" dirty="0" err="1"/>
              <a:t>Formatter</a:t>
            </a:r>
            <a:r>
              <a:rPr lang="ru-RU" dirty="0"/>
              <a:t> </a:t>
            </a:r>
            <a:r>
              <a:rPr lang="ru-RU" dirty="0" err="1"/>
              <a:t>vs</a:t>
            </a:r>
            <a:r>
              <a:rPr lang="ru-RU" dirty="0"/>
              <a:t> YAPF/autopep8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2426066-D5C7-08A9-DEF1-90F112F720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13008" y="4188542"/>
            <a:ext cx="7452851" cy="2054942"/>
          </a:xfrm>
        </p:spPr>
        <p:txBody>
          <a:bodyPr>
            <a:noAutofit/>
          </a:bodyPr>
          <a:lstStyle/>
          <a:p>
            <a:pPr algn="ctr"/>
            <a:r>
              <a:rPr lang="ru-RU" sz="3000" dirty="0"/>
              <a:t>(+ импорты. </a:t>
            </a:r>
            <a:r>
              <a:rPr lang="ru-RU" sz="3000" dirty="0" err="1"/>
              <a:t>isort</a:t>
            </a:r>
            <a:r>
              <a:rPr lang="ru-RU" sz="3000" dirty="0"/>
              <a:t> </a:t>
            </a:r>
            <a:r>
              <a:rPr lang="ru-RU" sz="3000" dirty="0" err="1"/>
              <a:t>vs</a:t>
            </a:r>
            <a:r>
              <a:rPr lang="ru-RU" sz="3000" dirty="0"/>
              <a:t> правила I в </a:t>
            </a:r>
            <a:r>
              <a:rPr lang="ru-RU" sz="3000" dirty="0" err="1"/>
              <a:t>ruff</a:t>
            </a:r>
            <a:r>
              <a:rPr lang="ru-RU" sz="3000" dirty="0"/>
              <a:t>)</a:t>
            </a:r>
          </a:p>
          <a:p>
            <a:pPr algn="ctr"/>
            <a:endParaRPr lang="en-US" sz="3000" dirty="0"/>
          </a:p>
          <a:p>
            <a:pPr algn="ctr"/>
            <a:r>
              <a:rPr lang="ru-RU" sz="3000" dirty="0"/>
              <a:t>Васина Марина 81</a:t>
            </a:r>
          </a:p>
        </p:txBody>
      </p:sp>
    </p:spTree>
    <p:extLst>
      <p:ext uri="{BB962C8B-B14F-4D97-AF65-F5344CB8AC3E}">
        <p14:creationId xmlns:p14="http://schemas.microsoft.com/office/powerpoint/2010/main" val="402234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19338A-5DAD-DD57-8AF4-C46FEF063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494783"/>
            <a:ext cx="9942409" cy="876193"/>
          </a:xfrm>
        </p:spPr>
        <p:txBody>
          <a:bodyPr>
            <a:normAutofit/>
          </a:bodyPr>
          <a:lstStyle/>
          <a:p>
            <a:r>
              <a:rPr lang="ru-RU" sz="4500" dirty="0"/>
              <a:t>Пример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09442D7-5A4A-DDC1-E8ED-69009B9CE8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73161"/>
            <a:ext cx="10289368" cy="4790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8562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890F8D-6C4A-A989-FA51-A9BE79CF4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814495"/>
            <a:ext cx="9942409" cy="876193"/>
          </a:xfrm>
        </p:spPr>
        <p:txBody>
          <a:bodyPr>
            <a:normAutofit/>
          </a:bodyPr>
          <a:lstStyle/>
          <a:p>
            <a:r>
              <a:rPr lang="ru-RU" sz="4000" b="1" dirty="0"/>
              <a:t>Black</a:t>
            </a:r>
            <a:endParaRPr lang="ru-RU" sz="40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E88C5AF-F09C-1081-C41C-A63573E42E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ru-RU" sz="2200" dirty="0"/>
              <a:t>Самый популярный. Один стиль.</a:t>
            </a:r>
          </a:p>
          <a:p>
            <a:pPr marL="0" indent="0">
              <a:buNone/>
            </a:pPr>
            <a:r>
              <a:rPr lang="ru-RU" sz="2200" dirty="0"/>
              <a:t>Почти нет настроек: единственное, что часто меняют — </a:t>
            </a:r>
            <a:r>
              <a:rPr lang="ru-RU" sz="2200" dirty="0" err="1"/>
              <a:t>line-length</a:t>
            </a:r>
            <a:r>
              <a:rPr lang="ru-RU" sz="2200" dirty="0"/>
              <a:t> (по умолчанию 88)</a:t>
            </a:r>
          </a:p>
          <a:p>
            <a:pPr marL="0" indent="0">
              <a:buNone/>
            </a:pPr>
            <a:r>
              <a:rPr lang="ru-RU" sz="2200" b="1" dirty="0" err="1">
                <a:solidFill>
                  <a:srgbClr val="FF0000"/>
                </a:solidFill>
              </a:rPr>
              <a:t>pip</a:t>
            </a:r>
            <a:r>
              <a:rPr lang="ru-RU" sz="2200" b="1" dirty="0">
                <a:solidFill>
                  <a:srgbClr val="FF0000"/>
                </a:solidFill>
              </a:rPr>
              <a:t> </a:t>
            </a:r>
            <a:r>
              <a:rPr lang="ru-RU" sz="2200" b="1" dirty="0" err="1">
                <a:solidFill>
                  <a:srgbClr val="FF0000"/>
                </a:solidFill>
              </a:rPr>
              <a:t>install</a:t>
            </a:r>
            <a:r>
              <a:rPr lang="ru-RU" sz="2200" b="1" dirty="0">
                <a:solidFill>
                  <a:srgbClr val="FF0000"/>
                </a:solidFill>
              </a:rPr>
              <a:t> </a:t>
            </a:r>
            <a:r>
              <a:rPr lang="ru-RU" sz="2200" b="1" dirty="0" err="1">
                <a:solidFill>
                  <a:srgbClr val="FF0000"/>
                </a:solidFill>
              </a:rPr>
              <a:t>black</a:t>
            </a:r>
            <a:br>
              <a:rPr lang="ru-RU" sz="2200" b="1" dirty="0">
                <a:solidFill>
                  <a:srgbClr val="FF0000"/>
                </a:solidFill>
              </a:rPr>
            </a:br>
            <a:r>
              <a:rPr lang="ru-RU" sz="2200" b="1" dirty="0" err="1">
                <a:solidFill>
                  <a:srgbClr val="FF0000"/>
                </a:solidFill>
              </a:rPr>
              <a:t>black</a:t>
            </a:r>
            <a:r>
              <a:rPr lang="ru-RU" sz="2200" b="1" dirty="0">
                <a:solidFill>
                  <a:srgbClr val="FF0000"/>
                </a:solidFill>
              </a:rPr>
              <a:t> demo_black.py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4" name="Рисунок 3" descr="Picture background">
            <a:extLst>
              <a:ext uri="{FF2B5EF4-FFF2-40B4-BE49-F238E27FC236}">
                <a16:creationId xmlns:a16="http://schemas.microsoft.com/office/drawing/2014/main" id="{908BACC0-FED3-01C9-E73C-446A562A41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3483" y="4128520"/>
            <a:ext cx="5879691" cy="272948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1296637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A9C78-DF15-49F6-E742-56FA7C2F6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BAD406-963D-16E7-9B44-B7D54E634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416" y="730052"/>
            <a:ext cx="9942409" cy="876193"/>
          </a:xfrm>
        </p:spPr>
        <p:txBody>
          <a:bodyPr>
            <a:normAutofit/>
          </a:bodyPr>
          <a:lstStyle/>
          <a:p>
            <a:r>
              <a:rPr lang="ru-RU" sz="4000" dirty="0" err="1"/>
              <a:t>Ruff</a:t>
            </a:r>
            <a:r>
              <a:rPr lang="ru-RU" sz="4000" dirty="0"/>
              <a:t> </a:t>
            </a:r>
            <a:r>
              <a:rPr lang="ru-RU" sz="4000" dirty="0" err="1"/>
              <a:t>Formatter</a:t>
            </a:r>
            <a:endParaRPr lang="ru-RU" sz="40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ECC4797-027E-A5AE-49DC-8965375925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ru-RU" sz="2200" dirty="0"/>
              <a:t>Делает то же, что Black, но на </a:t>
            </a:r>
            <a:r>
              <a:rPr lang="ru-RU" sz="2200" dirty="0" err="1"/>
              <a:t>Rust</a:t>
            </a:r>
            <a:r>
              <a:rPr lang="ru-RU" sz="2200" dirty="0"/>
              <a:t> — в 10–30 раз быстрее. Стиль почти идентичен Black, но </a:t>
            </a:r>
            <a:r>
              <a:rPr lang="ru-RU" sz="2200" dirty="0" err="1"/>
              <a:t>Ruff</a:t>
            </a:r>
            <a:r>
              <a:rPr lang="ru-RU" sz="2200" dirty="0"/>
              <a:t> ещё и линтер: находит ошибки, неиспользуемые импорты и прочее.</a:t>
            </a:r>
          </a:p>
          <a:p>
            <a:pPr marL="0" indent="0">
              <a:buNone/>
            </a:pPr>
            <a:r>
              <a:rPr lang="ru-RU" sz="2200" dirty="0"/>
              <a:t>Главное преимущество — один инструмент заменяет Black + </a:t>
            </a:r>
            <a:r>
              <a:rPr lang="ru-RU" sz="2200" dirty="0" err="1"/>
              <a:t>isort</a:t>
            </a:r>
            <a:r>
              <a:rPr lang="ru-RU" sz="2200" dirty="0"/>
              <a:t> + flake8.</a:t>
            </a:r>
          </a:p>
          <a:p>
            <a:pPr marL="0" indent="0">
              <a:buNone/>
            </a:pPr>
            <a:r>
              <a:rPr lang="ru-RU" sz="2200" dirty="0"/>
              <a:t>.</a:t>
            </a:r>
            <a:r>
              <a:rPr lang="ru-RU" sz="2200" dirty="0" err="1"/>
              <a:t>ruff_cache</a:t>
            </a:r>
            <a:r>
              <a:rPr lang="ru-RU" sz="2200" dirty="0"/>
              <a:t> — папка кэш </a:t>
            </a:r>
            <a:r>
              <a:rPr lang="ru-RU" sz="2200" dirty="0" err="1"/>
              <a:t>Ruff</a:t>
            </a:r>
            <a:r>
              <a:rPr lang="ru-RU" sz="2200" dirty="0"/>
              <a:t> для скорости. При повторном запуске он пропускает файлы, которые не изменились.</a:t>
            </a:r>
          </a:p>
          <a:p>
            <a:pPr marL="0" indent="0">
              <a:buNone/>
            </a:pPr>
            <a:r>
              <a:rPr lang="ru-RU" sz="2200" b="1" dirty="0" err="1">
                <a:solidFill>
                  <a:srgbClr val="FF0000"/>
                </a:solidFill>
              </a:rPr>
              <a:t>pip</a:t>
            </a:r>
            <a:r>
              <a:rPr lang="ru-RU" sz="2200" b="1" dirty="0">
                <a:solidFill>
                  <a:srgbClr val="FF0000"/>
                </a:solidFill>
              </a:rPr>
              <a:t> </a:t>
            </a:r>
            <a:r>
              <a:rPr lang="ru-RU" sz="2200" b="1" dirty="0" err="1">
                <a:solidFill>
                  <a:srgbClr val="FF0000"/>
                </a:solidFill>
              </a:rPr>
              <a:t>install</a:t>
            </a:r>
            <a:r>
              <a:rPr lang="ru-RU" sz="2200" b="1" dirty="0">
                <a:solidFill>
                  <a:srgbClr val="FF0000"/>
                </a:solidFill>
              </a:rPr>
              <a:t> </a:t>
            </a:r>
            <a:r>
              <a:rPr lang="ru-RU" sz="2200" b="1" dirty="0" err="1">
                <a:solidFill>
                  <a:srgbClr val="FF0000"/>
                </a:solidFill>
              </a:rPr>
              <a:t>ruff</a:t>
            </a:r>
            <a:br>
              <a:rPr lang="ru-RU" sz="2200" b="1" dirty="0">
                <a:solidFill>
                  <a:srgbClr val="FF0000"/>
                </a:solidFill>
              </a:rPr>
            </a:br>
            <a:r>
              <a:rPr lang="ru-RU" sz="2200" b="1" dirty="0" err="1">
                <a:solidFill>
                  <a:srgbClr val="FF0000"/>
                </a:solidFill>
              </a:rPr>
              <a:t>ruff</a:t>
            </a:r>
            <a:r>
              <a:rPr lang="ru-RU" sz="2200" b="1" dirty="0">
                <a:solidFill>
                  <a:srgbClr val="FF0000"/>
                </a:solidFill>
              </a:rPr>
              <a:t> </a:t>
            </a:r>
            <a:r>
              <a:rPr lang="ru-RU" sz="2200" b="1" dirty="0" err="1">
                <a:solidFill>
                  <a:srgbClr val="FF0000"/>
                </a:solidFill>
              </a:rPr>
              <a:t>format</a:t>
            </a:r>
            <a:r>
              <a:rPr lang="ru-RU" sz="2200" b="1" dirty="0">
                <a:solidFill>
                  <a:srgbClr val="FF0000"/>
                </a:solidFill>
              </a:rPr>
              <a:t> demo_ruff.py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1C89DFC-F646-A0AF-8EFD-4D795CDF2F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648" t="42036" r="45318" b="34493"/>
          <a:stretch>
            <a:fillRect/>
          </a:stretch>
        </p:blipFill>
        <p:spPr>
          <a:xfrm>
            <a:off x="7669161" y="5402826"/>
            <a:ext cx="4522839" cy="1455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6966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BFFCF-F301-8E57-F571-BC5571482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7542DB-7735-6E50-CDC0-52977BA71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417" y="838307"/>
            <a:ext cx="9942409" cy="876193"/>
          </a:xfrm>
        </p:spPr>
        <p:txBody>
          <a:bodyPr>
            <a:normAutofit/>
          </a:bodyPr>
          <a:lstStyle/>
          <a:p>
            <a:r>
              <a:rPr lang="ru-RU" sz="4000" b="1" dirty="0"/>
              <a:t>YAPF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4E91311-0095-A008-356D-10CBE4A1A5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sz="2200" dirty="0"/>
              <a:t>Настраиваемый </a:t>
            </a:r>
            <a:r>
              <a:rPr lang="ru-RU" sz="2200" dirty="0" err="1"/>
              <a:t>форматтер</a:t>
            </a:r>
            <a:r>
              <a:rPr lang="ru-RU" sz="2200" dirty="0"/>
              <a:t> от Google. настраивай как хочешь. Можно задать стиль через конфиг, подогнать под легаси-код.</a:t>
            </a:r>
          </a:p>
          <a:p>
            <a:pPr marL="0" indent="0">
              <a:buNone/>
            </a:pPr>
            <a:r>
              <a:rPr lang="ru-RU" sz="2200" b="1" dirty="0" err="1">
                <a:solidFill>
                  <a:srgbClr val="FF0000"/>
                </a:solidFill>
              </a:rPr>
              <a:t>pip</a:t>
            </a:r>
            <a:r>
              <a:rPr lang="ru-RU" sz="2200" b="1" dirty="0">
                <a:solidFill>
                  <a:srgbClr val="FF0000"/>
                </a:solidFill>
              </a:rPr>
              <a:t> </a:t>
            </a:r>
            <a:r>
              <a:rPr lang="ru-RU" sz="2200" b="1" dirty="0" err="1">
                <a:solidFill>
                  <a:srgbClr val="FF0000"/>
                </a:solidFill>
              </a:rPr>
              <a:t>install</a:t>
            </a:r>
            <a:r>
              <a:rPr lang="ru-RU" sz="2200" b="1" dirty="0">
                <a:solidFill>
                  <a:srgbClr val="FF0000"/>
                </a:solidFill>
              </a:rPr>
              <a:t> </a:t>
            </a:r>
            <a:r>
              <a:rPr lang="ru-RU" sz="2200" b="1" dirty="0" err="1">
                <a:solidFill>
                  <a:srgbClr val="FF0000"/>
                </a:solidFill>
              </a:rPr>
              <a:t>yapf</a:t>
            </a:r>
            <a:br>
              <a:rPr lang="ru-RU" sz="2200" b="1" dirty="0">
                <a:solidFill>
                  <a:srgbClr val="FF0000"/>
                </a:solidFill>
              </a:rPr>
            </a:br>
            <a:r>
              <a:rPr lang="ru-RU" sz="2200" b="1" dirty="0" err="1">
                <a:solidFill>
                  <a:srgbClr val="FF0000"/>
                </a:solidFill>
              </a:rPr>
              <a:t>yapf</a:t>
            </a:r>
            <a:r>
              <a:rPr lang="ru-RU" sz="2200" b="1" dirty="0">
                <a:solidFill>
                  <a:srgbClr val="FF0000"/>
                </a:solidFill>
              </a:rPr>
              <a:t> --</a:t>
            </a:r>
            <a:r>
              <a:rPr lang="ru-RU" sz="2200" b="1" dirty="0" err="1">
                <a:solidFill>
                  <a:srgbClr val="FF0000"/>
                </a:solidFill>
              </a:rPr>
              <a:t>in-place</a:t>
            </a:r>
            <a:r>
              <a:rPr lang="ru-RU" sz="2200" b="1" dirty="0">
                <a:solidFill>
                  <a:srgbClr val="FF0000"/>
                </a:solidFill>
              </a:rPr>
              <a:t> demo_yapf.py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 </a:t>
            </a:r>
          </a:p>
        </p:txBody>
      </p:sp>
      <p:pic>
        <p:nvPicPr>
          <p:cNvPr id="4" name="Рисунок 3" descr="Picture background">
            <a:extLst>
              <a:ext uri="{FF2B5EF4-FFF2-40B4-BE49-F238E27FC236}">
                <a16:creationId xmlns:a16="http://schemas.microsoft.com/office/drawing/2014/main" id="{D26204C5-BFB0-0C69-72F7-71788664F0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754" t="19478" r="15553" b="26997"/>
          <a:stretch>
            <a:fillRect/>
          </a:stretch>
        </p:blipFill>
        <p:spPr>
          <a:xfrm>
            <a:off x="8091948" y="4793225"/>
            <a:ext cx="4100052" cy="206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7750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EB586-5D6E-9F42-3742-F035A2250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8E57EE-9A9D-6B19-65FD-2F8D5344A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b="1" dirty="0"/>
              <a:t>autopep8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085F7DB-340F-83C4-86A4-CF9878005E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200" dirty="0"/>
              <a:t>Простейший: правит только то, что прямо нарушает PEP 8 — лишние пробелы, отступы, пустые строки. Не переформатирует структуру, не меняет кавычки, не разбивает длинные строки. Хорош для быстрой правки, но не для полноценного единообразия </a:t>
            </a:r>
            <a:r>
              <a:rPr lang="ru-RU" sz="2200" dirty="0" err="1"/>
              <a:t>cтрогого</a:t>
            </a:r>
            <a:r>
              <a:rPr lang="ru-RU" sz="2200" dirty="0"/>
              <a:t> проекта.</a:t>
            </a:r>
          </a:p>
          <a:p>
            <a:pPr marL="0" indent="0">
              <a:buNone/>
            </a:pPr>
            <a:r>
              <a:rPr lang="ru-RU" sz="2200" b="1" dirty="0" err="1">
                <a:solidFill>
                  <a:srgbClr val="FF0000"/>
                </a:solidFill>
              </a:rPr>
              <a:t>pip</a:t>
            </a:r>
            <a:r>
              <a:rPr lang="ru-RU" sz="2200" b="1" dirty="0">
                <a:solidFill>
                  <a:srgbClr val="FF0000"/>
                </a:solidFill>
              </a:rPr>
              <a:t> </a:t>
            </a:r>
            <a:r>
              <a:rPr lang="ru-RU" sz="2200" b="1" dirty="0" err="1">
                <a:solidFill>
                  <a:srgbClr val="FF0000"/>
                </a:solidFill>
              </a:rPr>
              <a:t>install</a:t>
            </a:r>
            <a:r>
              <a:rPr lang="ru-RU" sz="2200" b="1" dirty="0">
                <a:solidFill>
                  <a:srgbClr val="FF0000"/>
                </a:solidFill>
              </a:rPr>
              <a:t> autopep8</a:t>
            </a:r>
            <a:br>
              <a:rPr lang="ru-RU" sz="2200" b="1" dirty="0">
                <a:solidFill>
                  <a:srgbClr val="FF0000"/>
                </a:solidFill>
              </a:rPr>
            </a:br>
            <a:r>
              <a:rPr lang="ru-RU" sz="2200" b="1" dirty="0" err="1">
                <a:solidFill>
                  <a:srgbClr val="FF0000"/>
                </a:solidFill>
              </a:rPr>
              <a:t>autopep8</a:t>
            </a:r>
            <a:r>
              <a:rPr lang="ru-RU" sz="2200" b="1" dirty="0">
                <a:solidFill>
                  <a:srgbClr val="FF0000"/>
                </a:solidFill>
              </a:rPr>
              <a:t> --</a:t>
            </a:r>
            <a:r>
              <a:rPr lang="ru-RU" sz="2200" b="1" dirty="0" err="1">
                <a:solidFill>
                  <a:srgbClr val="FF0000"/>
                </a:solidFill>
              </a:rPr>
              <a:t>in-place</a:t>
            </a:r>
            <a:r>
              <a:rPr lang="ru-RU" sz="2200" b="1" dirty="0">
                <a:solidFill>
                  <a:srgbClr val="FF0000"/>
                </a:solidFill>
              </a:rPr>
              <a:t> demo_autopep8.py</a:t>
            </a:r>
          </a:p>
        </p:txBody>
      </p:sp>
    </p:spTree>
    <p:extLst>
      <p:ext uri="{BB962C8B-B14F-4D97-AF65-F5344CB8AC3E}">
        <p14:creationId xmlns:p14="http://schemas.microsoft.com/office/powerpoint/2010/main" val="33846173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7D3BA92D-7D5E-B399-42C2-B1B95CFC29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69197205"/>
              </p:ext>
            </p:extLst>
          </p:nvPr>
        </p:nvGraphicFramePr>
        <p:xfrm>
          <a:off x="147485" y="157317"/>
          <a:ext cx="11857700" cy="64106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69805">
                  <a:extLst>
                    <a:ext uri="{9D8B030D-6E8A-4147-A177-3AD203B41FA5}">
                      <a16:colId xmlns:a16="http://schemas.microsoft.com/office/drawing/2014/main" val="4077702834"/>
                    </a:ext>
                  </a:extLst>
                </a:gridCol>
                <a:gridCol w="2045110">
                  <a:extLst>
                    <a:ext uri="{9D8B030D-6E8A-4147-A177-3AD203B41FA5}">
                      <a16:colId xmlns:a16="http://schemas.microsoft.com/office/drawing/2014/main" val="2792279125"/>
                    </a:ext>
                  </a:extLst>
                </a:gridCol>
                <a:gridCol w="2910348">
                  <a:extLst>
                    <a:ext uri="{9D8B030D-6E8A-4147-A177-3AD203B41FA5}">
                      <a16:colId xmlns:a16="http://schemas.microsoft.com/office/drawing/2014/main" val="203832455"/>
                    </a:ext>
                  </a:extLst>
                </a:gridCol>
                <a:gridCol w="2674375">
                  <a:extLst>
                    <a:ext uri="{9D8B030D-6E8A-4147-A177-3AD203B41FA5}">
                      <a16:colId xmlns:a16="http://schemas.microsoft.com/office/drawing/2014/main" val="2663633296"/>
                    </a:ext>
                  </a:extLst>
                </a:gridCol>
                <a:gridCol w="2458062">
                  <a:extLst>
                    <a:ext uri="{9D8B030D-6E8A-4147-A177-3AD203B41FA5}">
                      <a16:colId xmlns:a16="http://schemas.microsoft.com/office/drawing/2014/main" val="122986849"/>
                    </a:ext>
                  </a:extLst>
                </a:gridCol>
              </a:tblGrid>
              <a:tr h="6309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1" dirty="0"/>
                        <a:t>Критерий</a:t>
                      </a:r>
                    </a:p>
                  </a:txBody>
                  <a:tcPr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1" dirty="0"/>
                        <a:t>Black</a:t>
                      </a:r>
                    </a:p>
                  </a:txBody>
                  <a:tcPr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1" dirty="0" err="1"/>
                        <a:t>Ruff</a:t>
                      </a:r>
                      <a:r>
                        <a:rPr lang="ru-RU" b="1" dirty="0"/>
                        <a:t> </a:t>
                      </a:r>
                      <a:r>
                        <a:rPr lang="ru-RU" b="1" dirty="0" err="1"/>
                        <a:t>Formatter</a:t>
                      </a:r>
                      <a:endParaRPr lang="ru-RU" b="1" dirty="0"/>
                    </a:p>
                  </a:txBody>
                  <a:tcPr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1" dirty="0"/>
                        <a:t>YAPF</a:t>
                      </a:r>
                    </a:p>
                  </a:txBody>
                  <a:tcPr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1" dirty="0"/>
                        <a:t>autopep8</a:t>
                      </a:r>
                    </a:p>
                  </a:txBody>
                  <a:tcPr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4298154"/>
                  </a:ext>
                </a:extLst>
              </a:tr>
              <a:tr h="11042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1" dirty="0"/>
                        <a:t>Философия</a:t>
                      </a:r>
                    </a:p>
                  </a:txBody>
                  <a:tcPr anchor="ctr"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1" dirty="0"/>
                        <a:t>«один стиль»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1"/>
                        <a:t>быстрый, единый стек с линтером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1" dirty="0"/>
                        <a:t>настраиваемый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1"/>
                        <a:t>простой автофикс PEP 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2098885"/>
                  </a:ext>
                </a:extLst>
              </a:tr>
              <a:tr h="6309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1" dirty="0"/>
                        <a:t>Скорость</a:t>
                      </a:r>
                    </a:p>
                  </a:txBody>
                  <a:tcPr anchor="ctr"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1"/>
                        <a:t>средняя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1"/>
                        <a:t>очень высокая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1"/>
                        <a:t>средняя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1"/>
                        <a:t>низкая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5939153"/>
                  </a:ext>
                </a:extLst>
              </a:tr>
              <a:tr h="6309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1" dirty="0"/>
                        <a:t>Гибкость</a:t>
                      </a:r>
                    </a:p>
                  </a:txBody>
                  <a:tcPr anchor="ctr"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1" dirty="0"/>
                        <a:t>минимальная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1" dirty="0"/>
                        <a:t>умеренная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1" dirty="0"/>
                        <a:t>высокая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1" dirty="0"/>
                        <a:t>минимальная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4234048"/>
                  </a:ext>
                </a:extLst>
              </a:tr>
              <a:tr h="18359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 b="1" spc="16" dirty="0">
                          <a:effectLst/>
                        </a:rPr>
                        <a:t>Как</a:t>
                      </a:r>
                      <a:endParaRPr lang="ru-RU" b="1" dirty="0"/>
                    </a:p>
                  </a:txBody>
                  <a:tcPr anchor="ctr"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6667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ru-RU" sz="1800" b="1" spc="16" dirty="0" err="1">
                          <a:effectLst/>
                        </a:rPr>
                        <a:t>pyproject.toml</a:t>
                      </a:r>
                      <a:endParaRPr lang="en-US" sz="1800" b="1" spc="16" dirty="0">
                        <a:effectLst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66667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spc="16" dirty="0">
                          <a:effectLst/>
                        </a:rPr>
                        <a:t>~3</a:t>
                      </a:r>
                      <a:endParaRPr lang="ru-RU" sz="1800" b="1" spc="16" dirty="0">
                        <a:effectLst/>
                        <a:latin typeface="YS Geo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6667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ru-RU" sz="1800" b="1" spc="16" dirty="0" err="1">
                          <a:effectLst/>
                        </a:rPr>
                        <a:t>pyproject.toml</a:t>
                      </a:r>
                      <a:endParaRPr lang="en-US" sz="1800" b="1" spc="16" dirty="0">
                        <a:effectLst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66667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spc="16" dirty="0">
                          <a:effectLst/>
                        </a:rPr>
                        <a:t>~6</a:t>
                      </a:r>
                      <a:endParaRPr lang="ru-RU" sz="1800" b="1" spc="16" dirty="0">
                        <a:effectLst/>
                        <a:latin typeface="YS Geo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6667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ru-RU" sz="1800" b="1" spc="16" dirty="0">
                          <a:effectLst/>
                        </a:rPr>
                        <a:t>.</a:t>
                      </a:r>
                      <a:r>
                        <a:rPr lang="ru-RU" sz="1800" b="1" spc="16" dirty="0" err="1">
                          <a:effectLst/>
                        </a:rPr>
                        <a:t>style.yapf</a:t>
                      </a:r>
                      <a:endParaRPr lang="en-US" sz="1800" b="1" spc="16" dirty="0">
                        <a:effectLst/>
                      </a:endParaRPr>
                    </a:p>
                    <a:p>
                      <a:pPr marL="0" marR="0" algn="l">
                        <a:lnSpc>
                          <a:spcPct val="166667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ru-RU" sz="1800" b="1" spc="16" dirty="0" err="1">
                          <a:effectLst/>
                        </a:rPr>
                        <a:t>pyproject.toml</a:t>
                      </a:r>
                      <a:endParaRPr lang="en-US" sz="1800" b="1" spc="16" dirty="0">
                        <a:effectLst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66667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spc="16" dirty="0">
                          <a:effectLst/>
                        </a:rPr>
                        <a:t>50+</a:t>
                      </a:r>
                      <a:endParaRPr lang="ru-RU" sz="1800" b="1" spc="16" dirty="0">
                        <a:effectLst/>
                        <a:latin typeface="YS Geo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6667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ru-RU" sz="1800" b="1" spc="16" dirty="0" err="1">
                          <a:effectLst/>
                        </a:rPr>
                        <a:t>setup.cfg</a:t>
                      </a:r>
                      <a:endParaRPr lang="en-US" sz="1800" b="1" spc="16" dirty="0">
                        <a:effectLst/>
                      </a:endParaRPr>
                    </a:p>
                    <a:p>
                      <a:pPr marL="0" marR="0" algn="l">
                        <a:lnSpc>
                          <a:spcPct val="166667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ru-RU" sz="1800" b="1" spc="16" dirty="0" err="1">
                          <a:effectLst/>
                        </a:rPr>
                        <a:t>pyproject.toml</a:t>
                      </a:r>
                      <a:endParaRPr lang="en-US" sz="1800" b="1" spc="16" dirty="0">
                        <a:effectLst/>
                      </a:endParaRPr>
                    </a:p>
                    <a:p>
                      <a:pPr marL="0" marR="0" algn="l">
                        <a:lnSpc>
                          <a:spcPct val="166667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ru-RU" sz="1800" b="1" spc="16" dirty="0">
                          <a:effectLst/>
                        </a:rPr>
                        <a:t>~10</a:t>
                      </a:r>
                      <a:endParaRPr lang="ru-RU" sz="1800" b="1" spc="16" dirty="0">
                        <a:effectLst/>
                        <a:latin typeface="YS Geo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6212403"/>
                  </a:ext>
                </a:extLst>
              </a:tr>
              <a:tr h="15774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1" dirty="0"/>
                        <a:t>Когда брать</a:t>
                      </a:r>
                    </a:p>
                  </a:txBody>
                  <a:tcPr anchor="ctr"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1" dirty="0"/>
                        <a:t>новые проекты, строгие команды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1" dirty="0"/>
                        <a:t>современный стек, скорость + </a:t>
                      </a:r>
                      <a:r>
                        <a:rPr lang="ru-RU" b="1" dirty="0" err="1"/>
                        <a:t>линтинг</a:t>
                      </a:r>
                      <a:endParaRPr lang="ru-RU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1" dirty="0"/>
                        <a:t>легаси, кастомные стили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1" dirty="0"/>
                        <a:t>быстрые правки, простые скрипты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83201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90730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CB983D-4864-CF2F-1B4D-A82216439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b="1" dirty="0" err="1"/>
              <a:t>isort</a:t>
            </a:r>
            <a:endParaRPr lang="ru-RU" sz="4000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DD81593-D17F-99B1-8BB7-BBFFA0E22E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200" dirty="0"/>
              <a:t>Настраивается в </a:t>
            </a:r>
            <a:r>
              <a:rPr lang="ru-RU" sz="2200" dirty="0" err="1"/>
              <a:t>pyproject.toml</a:t>
            </a:r>
            <a:r>
              <a:rPr lang="ru-RU" sz="2200" dirty="0"/>
              <a:t> или .</a:t>
            </a:r>
            <a:r>
              <a:rPr lang="ru-RU" sz="2200" dirty="0" err="1"/>
              <a:t>isort.cfg</a:t>
            </a:r>
            <a:br>
              <a:rPr lang="ru-RU" sz="2200" dirty="0"/>
            </a:br>
            <a:r>
              <a:rPr lang="ru-RU" sz="2200" dirty="0"/>
              <a:t>- сортировать импорты;</a:t>
            </a:r>
            <a:br>
              <a:rPr lang="ru-RU" sz="2200" dirty="0"/>
            </a:br>
            <a:r>
              <a:rPr lang="ru-RU" sz="2200" dirty="0"/>
              <a:t>- разделять их на группы;</a:t>
            </a:r>
            <a:br>
              <a:rPr lang="ru-RU" sz="2200" dirty="0"/>
            </a:br>
            <a:r>
              <a:rPr lang="ru-RU" sz="2200" dirty="0"/>
              <a:t>- определять </a:t>
            </a:r>
            <a:r>
              <a:rPr lang="ru-RU" sz="2200" b="1" dirty="0"/>
              <a:t>стандартную</a:t>
            </a:r>
            <a:r>
              <a:rPr lang="ru-RU" sz="2200" dirty="0"/>
              <a:t> библиотеку;</a:t>
            </a:r>
            <a:br>
              <a:rPr lang="ru-RU" sz="2200" dirty="0"/>
            </a:br>
            <a:r>
              <a:rPr lang="ru-RU" sz="2200" dirty="0"/>
              <a:t>- отделять </a:t>
            </a:r>
            <a:r>
              <a:rPr lang="ru-RU" sz="2200" b="1" dirty="0"/>
              <a:t>сторонние</a:t>
            </a:r>
            <a:r>
              <a:rPr lang="ru-RU" sz="2200" dirty="0"/>
              <a:t> библиотеки;</a:t>
            </a:r>
            <a:br>
              <a:rPr lang="ru-RU" sz="2200" dirty="0"/>
            </a:br>
            <a:r>
              <a:rPr lang="ru-RU" sz="2200" dirty="0"/>
              <a:t>- отделять импорты </a:t>
            </a:r>
            <a:r>
              <a:rPr lang="ru-RU" sz="2200" b="1" dirty="0"/>
              <a:t>собственного</a:t>
            </a:r>
            <a:r>
              <a:rPr lang="ru-RU" sz="2200" dirty="0"/>
              <a:t> проекта;</a:t>
            </a:r>
            <a:br>
              <a:rPr lang="ru-RU" sz="2200" dirty="0"/>
            </a:br>
            <a:r>
              <a:rPr lang="ru-RU" sz="2200" dirty="0"/>
              <a:t>- форматировать длинные </a:t>
            </a:r>
            <a:r>
              <a:rPr lang="ru-RU" sz="2200" dirty="0" err="1"/>
              <a:t>from</a:t>
            </a:r>
            <a:r>
              <a:rPr lang="ru-RU" sz="2200" dirty="0"/>
              <a:t> ... </a:t>
            </a:r>
            <a:r>
              <a:rPr lang="en-US" sz="2200" dirty="0"/>
              <a:t>I</a:t>
            </a:r>
            <a:r>
              <a:rPr lang="ru-RU" sz="2200" dirty="0" err="1"/>
              <a:t>mport</a:t>
            </a:r>
            <a:endParaRPr lang="en-US" sz="2200" dirty="0"/>
          </a:p>
          <a:p>
            <a:pPr marL="0" indent="0">
              <a:buNone/>
            </a:pPr>
            <a:r>
              <a:rPr lang="ru-RU" sz="2200" b="1" dirty="0" err="1">
                <a:solidFill>
                  <a:srgbClr val="FF0000"/>
                </a:solidFill>
              </a:rPr>
              <a:t>pip</a:t>
            </a:r>
            <a:r>
              <a:rPr lang="ru-RU" sz="2200" b="1" dirty="0">
                <a:solidFill>
                  <a:srgbClr val="FF0000"/>
                </a:solidFill>
              </a:rPr>
              <a:t> </a:t>
            </a:r>
            <a:r>
              <a:rPr lang="en-US" sz="2200" b="1" dirty="0">
                <a:solidFill>
                  <a:srgbClr val="FF0000"/>
                </a:solidFill>
              </a:rPr>
              <a:t>install </a:t>
            </a:r>
            <a:r>
              <a:rPr lang="en-US" sz="2200" b="1" dirty="0" err="1">
                <a:solidFill>
                  <a:srgbClr val="FF0000"/>
                </a:solidFill>
              </a:rPr>
              <a:t>isort</a:t>
            </a:r>
            <a:br>
              <a:rPr lang="ru-RU" sz="2200" b="1" dirty="0">
                <a:solidFill>
                  <a:srgbClr val="FF0000"/>
                </a:solidFill>
              </a:rPr>
            </a:br>
            <a:r>
              <a:rPr lang="en-US" sz="2200" b="1" dirty="0" err="1">
                <a:solidFill>
                  <a:srgbClr val="FF0000"/>
                </a:solidFill>
              </a:rPr>
              <a:t>isort</a:t>
            </a:r>
            <a:r>
              <a:rPr lang="en-US" sz="2200" b="1" dirty="0">
                <a:solidFill>
                  <a:srgbClr val="FF0000"/>
                </a:solidFill>
              </a:rPr>
              <a:t> demo_isort.py</a:t>
            </a:r>
            <a:endParaRPr lang="ru-RU" sz="2200" b="1" dirty="0">
              <a:solidFill>
                <a:srgbClr val="FF0000"/>
              </a:solidFill>
            </a:endParaRPr>
          </a:p>
          <a:p>
            <a:endParaRPr lang="ru-RU" dirty="0"/>
          </a:p>
        </p:txBody>
      </p:sp>
      <p:pic>
        <p:nvPicPr>
          <p:cNvPr id="4" name="Рисунок 3" descr="Picture background">
            <a:extLst>
              <a:ext uri="{FF2B5EF4-FFF2-40B4-BE49-F238E27FC236}">
                <a16:creationId xmlns:a16="http://schemas.microsoft.com/office/drawing/2014/main" id="{130B0A8E-AF6C-0D2E-CDFD-EBB5D1EA2C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4540" y="4826254"/>
            <a:ext cx="5117460" cy="2031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1806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E72DC7-1365-DDA0-859F-6DCFEE625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b="1" dirty="0"/>
              <a:t>I правило </a:t>
            </a:r>
            <a:r>
              <a:rPr lang="ru-RU" sz="4000" b="1" dirty="0" err="1"/>
              <a:t>Ruff</a:t>
            </a:r>
            <a:endParaRPr lang="ru-RU" sz="4000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A686BF3-D625-0CAB-7A53-540E17FDD8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sz="2200" dirty="0"/>
              <a:t>Встроенная сортировка и группировка импортов. Удобно, если уже используется </a:t>
            </a:r>
            <a:r>
              <a:rPr lang="ru-RU" sz="2200" dirty="0" err="1"/>
              <a:t>Ruff</a:t>
            </a:r>
            <a:r>
              <a:rPr lang="ru-RU" sz="2200" dirty="0"/>
              <a:t> как линтер</a:t>
            </a:r>
            <a:br>
              <a:rPr lang="en-US" sz="2200" dirty="0"/>
            </a:br>
            <a:r>
              <a:rPr lang="ru-RU" sz="2200" dirty="0"/>
              <a:t>Чуть меньше возможностей изменить конфиг, в отличии от </a:t>
            </a:r>
            <a:r>
              <a:rPr lang="en-US" sz="2200" dirty="0" err="1"/>
              <a:t>isort</a:t>
            </a:r>
            <a:endParaRPr lang="en-US" sz="22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2200" b="1" dirty="0">
                <a:solidFill>
                  <a:srgbClr val="FF0000"/>
                </a:solidFill>
              </a:rPr>
              <a:t>ruff check --fix demo.py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BC34844-ACEC-8CDD-5DC7-360CCAC1408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648" t="42036" r="45318" b="34493"/>
          <a:stretch>
            <a:fillRect/>
          </a:stretch>
        </p:blipFill>
        <p:spPr>
          <a:xfrm>
            <a:off x="7669161" y="5402826"/>
            <a:ext cx="4522839" cy="1455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7350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F72A89-BE2F-2A4A-E13E-50E840A38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416" y="419100"/>
            <a:ext cx="9942409" cy="876193"/>
          </a:xfrm>
        </p:spPr>
        <p:txBody>
          <a:bodyPr/>
          <a:lstStyle/>
          <a:p>
            <a:r>
              <a:rPr lang="en-US" dirty="0"/>
              <a:t>Demo.py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8E24375A-053F-0265-EB54-D90F90E2E3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1334" y="943897"/>
            <a:ext cx="11729332" cy="5495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528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5EFE47-C764-C5FE-F158-DD7DEE612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3D5B14-E4F5-6085-EE1E-6C73C0257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416" y="419100"/>
            <a:ext cx="9942409" cy="876193"/>
          </a:xfrm>
        </p:spPr>
        <p:txBody>
          <a:bodyPr/>
          <a:lstStyle/>
          <a:p>
            <a:r>
              <a:rPr lang="en-US" dirty="0"/>
              <a:t>Demo</a:t>
            </a:r>
            <a:r>
              <a:rPr lang="ru-RU" dirty="0"/>
              <a:t>_</a:t>
            </a:r>
            <a:r>
              <a:rPr lang="en-US" dirty="0"/>
              <a:t>black.py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A153390-FB21-6FD2-A833-A0845605F4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334" y="943897"/>
            <a:ext cx="11572568" cy="5405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6915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F9A49-8852-FD95-26DD-7D5E9CD4B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C1A7FB-1BED-FC30-F369-33E19DDFA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416" y="419100"/>
            <a:ext cx="9942409" cy="876193"/>
          </a:xfrm>
        </p:spPr>
        <p:txBody>
          <a:bodyPr/>
          <a:lstStyle/>
          <a:p>
            <a:r>
              <a:rPr lang="en-US" dirty="0"/>
              <a:t>Demo</a:t>
            </a:r>
            <a:r>
              <a:rPr lang="ru-RU" dirty="0"/>
              <a:t>_</a:t>
            </a:r>
            <a:r>
              <a:rPr lang="en-US" dirty="0"/>
              <a:t>r</a:t>
            </a:r>
            <a:r>
              <a:rPr lang="ru-RU" dirty="0" err="1"/>
              <a:t>uff</a:t>
            </a:r>
            <a:r>
              <a:rPr lang="en-US" dirty="0"/>
              <a:t>.</a:t>
            </a:r>
            <a:r>
              <a:rPr lang="en-US" dirty="0" err="1"/>
              <a:t>py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CED59C2-F0DC-B80A-406F-4520343604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375" y="978804"/>
            <a:ext cx="11531250" cy="5460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6380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8B449-57BC-944B-9486-AFBAEE34D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C813B3-74EE-2889-3263-4B45E472B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416" y="419100"/>
            <a:ext cx="9942409" cy="876193"/>
          </a:xfrm>
        </p:spPr>
        <p:txBody>
          <a:bodyPr/>
          <a:lstStyle/>
          <a:p>
            <a:r>
              <a:rPr lang="en-US" dirty="0"/>
              <a:t>Demo</a:t>
            </a:r>
            <a:r>
              <a:rPr lang="ru-RU" dirty="0"/>
              <a:t>_</a:t>
            </a:r>
            <a:r>
              <a:rPr lang="en-US" dirty="0"/>
              <a:t>yapf.py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F9901FC-50FF-B119-4802-24570EB70A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375" y="1092409"/>
            <a:ext cx="11531250" cy="5460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8570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432E9-4B52-D625-2E69-E2B35CB61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60B285-9D2D-701C-EC8E-A76030934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416" y="419100"/>
            <a:ext cx="9942409" cy="876193"/>
          </a:xfrm>
        </p:spPr>
        <p:txBody>
          <a:bodyPr/>
          <a:lstStyle/>
          <a:p>
            <a:r>
              <a:rPr lang="en-US" dirty="0"/>
              <a:t>Demo</a:t>
            </a:r>
            <a:r>
              <a:rPr lang="ru-RU" dirty="0"/>
              <a:t>_</a:t>
            </a:r>
            <a:r>
              <a:rPr lang="ru-RU" dirty="0" err="1"/>
              <a:t>autopep</a:t>
            </a:r>
            <a:r>
              <a:rPr lang="en-US" dirty="0"/>
              <a:t>8.py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2D47356-8AF5-A606-BCD7-B70BEA3D24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997" y="965239"/>
            <a:ext cx="11538005" cy="5473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7954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F8E193-1CCE-FD0A-5C22-408AC31DB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49916E-2B7A-91D3-CDD8-ABC0B95FB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416" y="419100"/>
            <a:ext cx="9942409" cy="876193"/>
          </a:xfrm>
        </p:spPr>
        <p:txBody>
          <a:bodyPr/>
          <a:lstStyle/>
          <a:p>
            <a:r>
              <a:rPr lang="en-US" dirty="0"/>
              <a:t>Demo</a:t>
            </a:r>
            <a:r>
              <a:rPr lang="ru-RU" dirty="0"/>
              <a:t>_</a:t>
            </a:r>
            <a:r>
              <a:rPr lang="ru-RU" dirty="0" err="1"/>
              <a:t>isort</a:t>
            </a:r>
            <a:r>
              <a:rPr lang="en-US" dirty="0"/>
              <a:t>.py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746BF0C-EDA2-6CB3-2AE7-FB0E73148D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997" y="1007070"/>
            <a:ext cx="11538005" cy="5338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8803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E32EB-4BF6-7410-26B9-1D0C5D6BB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AA9409-C91B-7D44-4C0A-4BB53592D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416" y="419100"/>
            <a:ext cx="9942409" cy="876193"/>
          </a:xfrm>
        </p:spPr>
        <p:txBody>
          <a:bodyPr/>
          <a:lstStyle/>
          <a:p>
            <a:r>
              <a:rPr lang="en-US" dirty="0"/>
              <a:t>Demo</a:t>
            </a:r>
            <a:r>
              <a:rPr lang="ru-RU" dirty="0"/>
              <a:t>_ruff2</a:t>
            </a:r>
            <a:r>
              <a:rPr lang="en-US" dirty="0"/>
              <a:t>.py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CCF92A4-A0E3-21C6-8470-0FD0FDD448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661" y="1091381"/>
            <a:ext cx="11654678" cy="5347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122440"/>
      </p:ext>
    </p:extLst>
  </p:cSld>
  <p:clrMapOvr>
    <a:masterClrMapping/>
  </p:clrMapOvr>
</p:sld>
</file>

<file path=ppt/theme/theme1.xml><?xml version="1.0" encoding="utf-8"?>
<a:theme xmlns:a="http://schemas.openxmlformats.org/drawingml/2006/main" name="Запись фильма">
  <a:themeElements>
    <a:clrScheme name="Другая 4">
      <a:dk1>
        <a:srgbClr val="2A2A2A"/>
      </a:dk1>
      <a:lt1>
        <a:sysClr val="window" lastClr="FFFFFF"/>
      </a:lt1>
      <a:dk2>
        <a:srgbClr val="393939"/>
      </a:dk2>
      <a:lt2>
        <a:srgbClr val="F9EFEC"/>
      </a:lt2>
      <a:accent1>
        <a:srgbClr val="CB49B2"/>
      </a:accent1>
      <a:accent2>
        <a:srgbClr val="7C3191"/>
      </a:accent2>
      <a:accent3>
        <a:srgbClr val="E95D48"/>
      </a:accent3>
      <a:accent4>
        <a:srgbClr val="F08E6B"/>
      </a:accent4>
      <a:accent5>
        <a:srgbClr val="D93752"/>
      </a:accent5>
      <a:accent6>
        <a:srgbClr val="EE7345"/>
      </a:accent6>
      <a:hlink>
        <a:srgbClr val="CB49B2"/>
      </a:hlink>
      <a:folHlink>
        <a:srgbClr val="E95D48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lm burn" id="{4524321E-1019-4E52-AA1C-5D37B75CD749}" vid="{4A46179B-AA1B-40E1-9320-430DA2EBD8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337</TotalTime>
  <Words>445</Words>
  <Application>Microsoft Office PowerPoint</Application>
  <PresentationFormat>Широкоэкранный</PresentationFormat>
  <Paragraphs>71</Paragraphs>
  <Slides>16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0" baseType="lpstr">
      <vt:lpstr>Arial</vt:lpstr>
      <vt:lpstr>Neue Haas Grotesk Text Pro</vt:lpstr>
      <vt:lpstr>YS Geo</vt:lpstr>
      <vt:lpstr>Запись фильма</vt:lpstr>
      <vt:lpstr>Сравнение форматтеров. Black vs Ruff Formatter vs YAPF/autopep8</vt:lpstr>
      <vt:lpstr>Пример</vt:lpstr>
      <vt:lpstr>Black</vt:lpstr>
      <vt:lpstr>Ruff Formatter</vt:lpstr>
      <vt:lpstr>YAPF</vt:lpstr>
      <vt:lpstr>autopep8</vt:lpstr>
      <vt:lpstr>Презентация PowerPoint</vt:lpstr>
      <vt:lpstr>isort</vt:lpstr>
      <vt:lpstr>I правило Ruff</vt:lpstr>
      <vt:lpstr>Demo.py</vt:lpstr>
      <vt:lpstr>Demo_black.py</vt:lpstr>
      <vt:lpstr>Demo_ruff.py</vt:lpstr>
      <vt:lpstr>Demo_yapf.py</vt:lpstr>
      <vt:lpstr>Demo_autopep8.py</vt:lpstr>
      <vt:lpstr>Demo_isort.py</vt:lpstr>
      <vt:lpstr>Demo_ruff2.py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Марина</dc:creator>
  <cp:lastModifiedBy>Марина</cp:lastModifiedBy>
  <cp:revision>24</cp:revision>
  <dcterms:created xsi:type="dcterms:W3CDTF">2026-09-24T10:16:42Z</dcterms:created>
  <dcterms:modified xsi:type="dcterms:W3CDTF">2026-09-25T19:52:39Z</dcterms:modified>
</cp:coreProperties>
</file>